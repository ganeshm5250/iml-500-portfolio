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914400"/>
            <a:ext cx="1097280" cy="-36576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914400"/>
            <a:ext cx="1097280" cy="64008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914400"/>
            <a:ext cx="1097280" cy="173736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914400"/>
            <a:ext cx="1097280" cy="283464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2103120"/>
            <a:ext cx="1097280" cy="-155448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2103120"/>
            <a:ext cx="1097280" cy="-54864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2103120"/>
            <a:ext cx="1097280" cy="54864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0" y="2103120"/>
            <a:ext cx="1097280" cy="164592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3291840"/>
            <a:ext cx="1097280" cy="-274320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3291840"/>
            <a:ext cx="1097280" cy="-173736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0" y="3291840"/>
            <a:ext cx="1097280" cy="-64008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0" y="3291840"/>
            <a:ext cx="1097280" cy="45720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0" y="548640"/>
            <a:ext cx="731520" cy="91440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0" y="548640"/>
            <a:ext cx="731520" cy="228600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1554480"/>
            <a:ext cx="731520" cy="-9144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1554480"/>
            <a:ext cx="731520" cy="128016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0" y="2651760"/>
            <a:ext cx="731520" cy="-118872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0" y="2651760"/>
            <a:ext cx="731520" cy="18288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0" y="3749040"/>
            <a:ext cx="731520" cy="-228600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0" y="3749040"/>
            <a:ext cx="731520" cy="-914400"/>
          </a:xfrm>
          <a:prstGeom prst="line">
            <a:avLst/>
          </a:prstGeom>
          <a:noFill/>
          <a:ln w="12700">
            <a:solidFill>
              <a:srgbClr val="FBE2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50424" y="832104"/>
            <a:ext cx="164592" cy="164592"/>
          </a:xfrm>
          <a:prstGeom prst="ellipse">
            <a:avLst/>
          </a:prstGeom>
          <a:solidFill>
            <a:srgbClr val="FBE2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50424" y="2020824"/>
            <a:ext cx="164592" cy="164592"/>
          </a:xfrm>
          <a:prstGeom prst="ellipse">
            <a:avLst/>
          </a:prstGeom>
          <a:solidFill>
            <a:srgbClr val="FBE2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3209544"/>
            <a:ext cx="164592" cy="164592"/>
          </a:xfrm>
          <a:prstGeom prst="ellipse">
            <a:avLst/>
          </a:prstGeom>
          <a:solidFill>
            <a:srgbClr val="FBE2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47704" y="466344"/>
            <a:ext cx="164592" cy="164592"/>
          </a:xfrm>
          <a:prstGeom prst="ellipse">
            <a:avLst/>
          </a:prstGeom>
          <a:solidFill>
            <a:srgbClr val="F4C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47704" y="1472184"/>
            <a:ext cx="164592" cy="164592"/>
          </a:xfrm>
          <a:prstGeom prst="ellipse">
            <a:avLst/>
          </a:prstGeom>
          <a:solidFill>
            <a:srgbClr val="F4C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47704" y="2569464"/>
            <a:ext cx="164592" cy="164592"/>
          </a:xfrm>
          <a:prstGeom prst="ellipse">
            <a:avLst/>
          </a:prstGeom>
          <a:solidFill>
            <a:srgbClr val="F4C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47704" y="3666744"/>
            <a:ext cx="164592" cy="164592"/>
          </a:xfrm>
          <a:prstGeom prst="ellipse">
            <a:avLst/>
          </a:prstGeom>
          <a:solidFill>
            <a:srgbClr val="F4C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79224" y="1380744"/>
            <a:ext cx="164592" cy="164592"/>
          </a:xfrm>
          <a:prstGeom prst="ellipse">
            <a:avLst/>
          </a:prstGeom>
          <a:solidFill>
            <a:srgbClr val="FBE2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79224" y="2752344"/>
            <a:ext cx="164592" cy="164592"/>
          </a:xfrm>
          <a:prstGeom prst="ellipse">
            <a:avLst/>
          </a:prstGeom>
          <a:solidFill>
            <a:srgbClr val="FBE2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247120" y="5029200"/>
            <a:ext cx="1188720" cy="1188720"/>
          </a:xfrm>
          <a:prstGeom prst="ellipse">
            <a:avLst/>
          </a:prstGeom>
          <a:solidFill>
            <a:srgbClr val="FBE28A">
              <a:alpha val="4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1737360"/>
            <a:ext cx="10241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ML: A History of</a:t>
            </a:r>
            <a:endParaRPr lang="en-US" sz="44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Booms and Winters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73152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Turing's Question to the Age of Large Language Models (1950 – Present)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Discussion: AI &amp; ML Timelines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Eras of AI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cyclical journey of breakthroughs, funding collapses, and resurgence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729740" cy="3291840"/>
          </a:xfrm>
          <a:prstGeom prst="roundRect">
            <a:avLst>
              <a:gd name="adj" fmla="val 4229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76200" dist="25400" dir="5400000">
              <a:srgbClr val="B8A4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3470" y="2286000"/>
            <a:ext cx="640080" cy="640080"/>
          </a:xfrm>
          <a:prstGeom prst="ellipse">
            <a:avLst/>
          </a:prstGeom>
          <a:solidFill>
            <a:srgbClr val="FBE2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1729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16383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1950–66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16383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15540" y="2011680"/>
            <a:ext cx="1729740" cy="3291840"/>
          </a:xfrm>
          <a:prstGeom prst="roundRect">
            <a:avLst>
              <a:gd name="adj" fmla="val 4229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76200" dist="25400" dir="5400000">
              <a:srgbClr val="B8A4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0370" y="2286000"/>
            <a:ext cx="640080" cy="640080"/>
          </a:xfrm>
          <a:prstGeom prst="ellipse">
            <a:avLst/>
          </a:prstGeom>
          <a:solidFill>
            <a:srgbClr val="FBF4DF"/>
          </a:solidFill>
          <a:ln/>
        </p:spPr>
      </p:sp>
      <p:sp>
        <p:nvSpPr>
          <p:cNvPr id="11" name="Text 9"/>
          <p:cNvSpPr/>
          <p:nvPr/>
        </p:nvSpPr>
        <p:spPr>
          <a:xfrm>
            <a:off x="2415540" y="2286000"/>
            <a:ext cx="1729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❄️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1260" y="3063240"/>
            <a:ext cx="16383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1974–80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1260" y="3474720"/>
            <a:ext cx="16383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AI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82440" y="2011680"/>
            <a:ext cx="1729740" cy="3291840"/>
          </a:xfrm>
          <a:prstGeom prst="roundRect">
            <a:avLst>
              <a:gd name="adj" fmla="val 4229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76200" dist="25400" dir="5400000">
              <a:srgbClr val="B8A4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7270" y="2286000"/>
            <a:ext cx="640080" cy="640080"/>
          </a:xfrm>
          <a:prstGeom prst="ellipse">
            <a:avLst/>
          </a:prstGeom>
          <a:solidFill>
            <a:srgbClr val="FBF4DF"/>
          </a:solidFill>
          <a:ln/>
        </p:spPr>
      </p:sp>
      <p:sp>
        <p:nvSpPr>
          <p:cNvPr id="16" name="Text 14"/>
          <p:cNvSpPr/>
          <p:nvPr/>
        </p:nvSpPr>
        <p:spPr>
          <a:xfrm>
            <a:off x="4282440" y="2286000"/>
            <a:ext cx="1729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❄️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28160" y="3063240"/>
            <a:ext cx="16383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1980–93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28160" y="3474720"/>
            <a:ext cx="16383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&amp;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AI Winter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9340" y="2011680"/>
            <a:ext cx="1729740" cy="3291840"/>
          </a:xfrm>
          <a:prstGeom prst="roundRect">
            <a:avLst>
              <a:gd name="adj" fmla="val 4229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76200" dist="25400" dir="5400000">
              <a:srgbClr val="B8A4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4170" y="2286000"/>
            <a:ext cx="640080" cy="640080"/>
          </a:xfrm>
          <a:prstGeom prst="ellipse">
            <a:avLst/>
          </a:prstGeom>
          <a:solidFill>
            <a:srgbClr val="FBE28A"/>
          </a:solidFill>
          <a:ln/>
        </p:spPr>
      </p:sp>
      <p:sp>
        <p:nvSpPr>
          <p:cNvPr id="21" name="Text 19"/>
          <p:cNvSpPr/>
          <p:nvPr/>
        </p:nvSpPr>
        <p:spPr>
          <a:xfrm>
            <a:off x="6149340" y="2286000"/>
            <a:ext cx="1729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95060" y="3063240"/>
            <a:ext cx="16383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1997–06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5060" y="3474720"/>
            <a:ext cx="16383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Resurgence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16240" y="2011680"/>
            <a:ext cx="1729740" cy="3291840"/>
          </a:xfrm>
          <a:prstGeom prst="roundRect">
            <a:avLst>
              <a:gd name="adj" fmla="val 4229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76200" dist="25400" dir="5400000">
              <a:srgbClr val="B8A45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61070" y="2286000"/>
            <a:ext cx="640080" cy="64008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26" name="Text 24"/>
          <p:cNvSpPr/>
          <p:nvPr/>
        </p:nvSpPr>
        <p:spPr>
          <a:xfrm>
            <a:off x="8016240" y="2286000"/>
            <a:ext cx="1729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061960" y="3063240"/>
            <a:ext cx="16383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2012–17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61960" y="3474720"/>
            <a:ext cx="16383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883140" y="2011680"/>
            <a:ext cx="1729740" cy="3291840"/>
          </a:xfrm>
          <a:prstGeom prst="roundRect">
            <a:avLst>
              <a:gd name="adj" fmla="val 4229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76200" dist="25400" dir="5400000">
              <a:srgbClr val="B8A45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27970" y="2286000"/>
            <a:ext cx="640080" cy="64008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31" name="Text 29"/>
          <p:cNvSpPr/>
          <p:nvPr/>
        </p:nvSpPr>
        <p:spPr>
          <a:xfrm>
            <a:off x="9883140" y="2286000"/>
            <a:ext cx="1729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928860" y="3063240"/>
            <a:ext cx="16383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28860" y="3474720"/>
            <a:ext cx="16383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13510" y="2606040"/>
            <a:ext cx="9334500" cy="0"/>
          </a:xfrm>
          <a:prstGeom prst="line">
            <a:avLst/>
          </a:prstGeom>
          <a:noFill/>
          <a:ln w="25400">
            <a:solidFill>
              <a:srgbClr val="FBE28A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Era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1950s–1960s — The Birth of a Field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Turing Test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the “Imitation Game” to evaluate whether a machine's behavior is indistinguishable from a human's.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4149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4149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73177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73177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McCarthy, Minsky, Shannon, Rochester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 coined the term “Artificial Intelligence” and is considered the founding event of the field.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6450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645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95478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395478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Perceptron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Rosenblatt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neural network model simulating visual pattern recognition — the ancestor of modern deep learning.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8751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8751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7779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517779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Chatbot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Weizenbaum, MIT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NLP program simulating a therapist, showing simple pattern-matching could seem intelligent.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0" y="1371600"/>
            <a:ext cx="2880360" cy="4937760"/>
          </a:xfrm>
          <a:prstGeom prst="roundRect">
            <a:avLst>
              <a:gd name="adj" fmla="val 3175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Perceptron Works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64040" y="2560320"/>
            <a:ext cx="1874520" cy="1005840"/>
          </a:xfrm>
          <a:prstGeom prst="line">
            <a:avLst/>
          </a:prstGeom>
          <a:noFill/>
          <a:ln w="15875">
            <a:solidFill>
              <a:srgbClr val="FBE2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3246120"/>
            <a:ext cx="1874520" cy="320040"/>
          </a:xfrm>
          <a:prstGeom prst="line">
            <a:avLst/>
          </a:prstGeom>
          <a:noFill/>
          <a:ln w="15875">
            <a:solidFill>
              <a:srgbClr val="FBE2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64040" y="3931920"/>
            <a:ext cx="1874520" cy="-365760"/>
          </a:xfrm>
          <a:prstGeom prst="line">
            <a:avLst/>
          </a:prstGeom>
          <a:noFill/>
          <a:ln w="15875">
            <a:solidFill>
              <a:srgbClr val="FBE2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64040" y="4617720"/>
            <a:ext cx="1874520" cy="-1051560"/>
          </a:xfrm>
          <a:prstGeom prst="line">
            <a:avLst/>
          </a:prstGeom>
          <a:noFill/>
          <a:ln w="15875">
            <a:solidFill>
              <a:srgbClr val="FBE2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17736" y="2414016"/>
            <a:ext cx="292608" cy="292608"/>
          </a:xfrm>
          <a:prstGeom prst="ellipse">
            <a:avLst/>
          </a:prstGeom>
          <a:solidFill>
            <a:srgbClr val="FBE28A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7736" y="2414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5"/>
                </a:solidFill>
              </a:rPr>
              <a:t>x1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17736" y="3099816"/>
            <a:ext cx="292608" cy="292608"/>
          </a:xfrm>
          <a:prstGeom prst="ellipse">
            <a:avLst/>
          </a:prstGeom>
          <a:solidFill>
            <a:srgbClr val="FBE28A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17736" y="3099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5"/>
                </a:solidFill>
              </a:rPr>
              <a:t>x2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317736" y="3785616"/>
            <a:ext cx="292608" cy="292608"/>
          </a:xfrm>
          <a:prstGeom prst="ellipse">
            <a:avLst/>
          </a:prstGeom>
          <a:solidFill>
            <a:srgbClr val="FBE28A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17736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5"/>
                </a:solidFill>
              </a:rPr>
              <a:t>x3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317736" y="4471416"/>
            <a:ext cx="292608" cy="292608"/>
          </a:xfrm>
          <a:prstGeom prst="ellipse">
            <a:avLst/>
          </a:prstGeom>
          <a:solidFill>
            <a:srgbClr val="FBE28A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17736" y="4471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5"/>
                </a:solidFill>
              </a:rPr>
              <a:t>x4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137392" y="3364992"/>
            <a:ext cx="402336" cy="40233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A976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37392" y="3364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Σ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89720" y="5532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inputs → single output signal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AI Winter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1969–1980 — When Promises Outpaced Reality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66928" cy="566928"/>
          </a:xfrm>
          <a:prstGeom prst="ellipse">
            <a:avLst/>
          </a:prstGeom>
          <a:solidFill>
            <a:srgbClr val="FBE28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4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55448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“Perceptrons” Published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 &amp; Papert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exposed the limits of single-layer neural nets, freezing funding for over a decade.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566928" cy="566928"/>
          </a:xfrm>
          <a:prstGeom prst="ellipse">
            <a:avLst/>
          </a:prstGeom>
          <a:solidFill>
            <a:srgbClr val="FBE28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64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15468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315468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Lighthill Report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Lighthill, UK Government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scathing government review concluded AI had failed its goals, gutting UK research funding.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64608"/>
            <a:ext cx="566928" cy="566928"/>
          </a:xfrm>
          <a:prstGeom prst="ellipse">
            <a:avLst/>
          </a:prstGeom>
          <a:solidFill>
            <a:srgbClr val="FBE28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64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❄️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75488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1974–80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475488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Collapses Globally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&amp; Governments Worldwide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computing power and combinatorial explosion in logic systems froze investment in AI.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880360" cy="49377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600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Momentum (illustrative)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18320" y="2286000"/>
            <a:ext cx="982980" cy="822960"/>
          </a:xfrm>
          <a:prstGeom prst="line">
            <a:avLst/>
          </a:prstGeom>
          <a:noFill/>
          <a:ln w="31750">
            <a:solidFill>
              <a:srgbClr val="A976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01300" y="3108960"/>
            <a:ext cx="982980" cy="731520"/>
          </a:xfrm>
          <a:prstGeom prst="line">
            <a:avLst/>
          </a:prstGeom>
          <a:noFill/>
          <a:ln w="31750">
            <a:solidFill>
              <a:srgbClr val="A976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63456" y="2231136"/>
            <a:ext cx="109728" cy="109728"/>
          </a:xfrm>
          <a:prstGeom prst="ellipse">
            <a:avLst/>
          </a:prstGeom>
          <a:solidFill>
            <a:srgbClr val="A9760C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4224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346436" y="3054096"/>
            <a:ext cx="109728" cy="109728"/>
          </a:xfrm>
          <a:prstGeom prst="ellipse">
            <a:avLst/>
          </a:prstGeom>
          <a:solidFill>
            <a:srgbClr val="A9760C"/>
          </a:solidFill>
          <a:ln/>
        </p:spPr>
      </p:sp>
      <p:sp>
        <p:nvSpPr>
          <p:cNvPr id="23" name="Text 21"/>
          <p:cNvSpPr/>
          <p:nvPr/>
        </p:nvSpPr>
        <p:spPr>
          <a:xfrm>
            <a:off x="10081260" y="4224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329416" y="3785616"/>
            <a:ext cx="109728" cy="109728"/>
          </a:xfrm>
          <a:prstGeom prst="ellipse">
            <a:avLst/>
          </a:prstGeom>
          <a:solidFill>
            <a:srgbClr val="A9760C"/>
          </a:solidFill>
          <a:ln/>
        </p:spPr>
      </p:sp>
      <p:sp>
        <p:nvSpPr>
          <p:cNvPr id="25" name="Text 23"/>
          <p:cNvSpPr/>
          <p:nvPr/>
        </p:nvSpPr>
        <p:spPr>
          <a:xfrm>
            <a:off x="11064240" y="4224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418320" y="4114800"/>
            <a:ext cx="1965960" cy="0"/>
          </a:xfrm>
          <a:prstGeom prst="line">
            <a:avLst/>
          </a:prstGeom>
          <a:noFill/>
          <a:ln w="12700">
            <a:solidFill>
              <a:srgbClr val="EDEA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53949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and interest cooled sharply after unmet promises.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 Boom — Then a Second Winter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 — early 1990s — A Cycle Repeats Itself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CFBF7"/>
          </a:solidFill>
          <a:ln w="15875">
            <a:solidFill>
              <a:srgbClr val="FBE2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  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Commercialized (Digital Equipment Corp’s XCON)  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encoding human knowledge became commercially viable, sparking new corporate investment.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  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Popularized (Rumelhart, Hinton, Williams)  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multi-layer neural networks could be trained efficiently, reviving connectionist AI.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BF4DF"/>
          </a:solidFill>
          <a:ln w="12700">
            <a:solidFill>
              <a:srgbClr val="E3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1987–1993  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AI Winter  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costly, brittle nature of expert systems and the collapse of the specialized “Lisp machine” hardware market triggered another sharp decline in AI funding and interest.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→ Impact: hype outran real-world performance — a pattern that repeats throughout AI history.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Resurgence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1990s–2000s — Quiet Progress Before the Storm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46430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643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♟️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35458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235458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Defeats Kasparov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chess supercomputer beat world champion Garry Kasparov, a landmark for brute-force search AI.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06450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645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95478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395478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“Deep Learning” Coined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Geoffrey Hinton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deep neural networks could be effectively pre-trained layer-by-layer, reigniting academic interest.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61120" y="1371600"/>
            <a:ext cx="2880360" cy="4937760"/>
          </a:xfrm>
          <a:prstGeom prst="roundRect">
            <a:avLst>
              <a:gd name="adj" fmla="val 3175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89720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vs. Kasparov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86900" y="21031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15500" y="21031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44100" y="21031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72700" y="21031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01300" y="21031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29900" y="21031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58500" y="21031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87100" y="21031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86900" y="23317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15500" y="23317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44100" y="23317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72700" y="23317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01300" y="23317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29900" y="23317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58500" y="23317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87100" y="23317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6900" y="25603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15500" y="25603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44100" y="25603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72700" y="25603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01300" y="25603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29900" y="25603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58500" y="25603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87100" y="25603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6900" y="27889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15500" y="27889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44100" y="27889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72700" y="27889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01300" y="27889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29900" y="27889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58500" y="27889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87100" y="27889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86900" y="30175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15500" y="30175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44100" y="30175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72700" y="30175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01300" y="30175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29900" y="30175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858500" y="30175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87100" y="30175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86900" y="32461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715500" y="32461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44100" y="32461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72700" y="32461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01300" y="32461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29900" y="32461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858500" y="32461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87100" y="32461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86900" y="34747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15500" y="34747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44100" y="34747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172700" y="34747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01300" y="34747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29900" y="34747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858500" y="34747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087100" y="34747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86900" y="37033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15500" y="37033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44100" y="37033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172700" y="37033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401300" y="37033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629900" y="37033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858500" y="3703320"/>
            <a:ext cx="228600" cy="228600"/>
          </a:xfrm>
          <a:prstGeom prst="rect">
            <a:avLst/>
          </a:prstGeom>
          <a:solidFill>
            <a:srgbClr val="F4C430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087100" y="3703320"/>
            <a:ext cx="228600" cy="228600"/>
          </a:xfrm>
          <a:prstGeom prst="rect">
            <a:avLst/>
          </a:prstGeom>
          <a:solidFill>
            <a:srgbClr val="FCFBF7"/>
          </a:solidFill>
          <a:ln w="3175">
            <a:solidFill>
              <a:srgbClr val="EDEA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89720" y="4114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brute-force search machine that redefined what computers could out-calculate.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Ignition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2012–2017 — Hardware Finally Catches Up to Theory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Wins ImageNet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Krizhevsky, Sutskever, Hinton — U. Toronto, on Nvidia GPUs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CNN trained on GPUs crushed the competition in image recognition, proving deep learning's power at scale.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4149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4149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73177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73177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Introduced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Goodfellow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Adversarial Networks introduced a new framework for generating realistic synthetic data.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6450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645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♟️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95478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395478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Defeats Lee Sedol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(Google)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beat a Go world champion — a feat once thought decades away.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8751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8751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7779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517779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Brain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Transformer architecture — the foundation of virtually every modern LLM.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0" y="1371600"/>
            <a:ext cx="2880360" cy="4937760"/>
          </a:xfrm>
          <a:prstGeom prst="roundRect">
            <a:avLst>
              <a:gd name="adj" fmla="val 3175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Top-5 Error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98508" y="2262226"/>
            <a:ext cx="214884" cy="2492654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23" name="Text 21"/>
          <p:cNvSpPr/>
          <p:nvPr/>
        </p:nvSpPr>
        <p:spPr>
          <a:xfrm>
            <a:off x="9307068" y="2033626"/>
            <a:ext cx="397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261348" y="4828032"/>
            <a:ext cx="489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756648" y="2474366"/>
            <a:ext cx="214884" cy="2280514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26" name="Text 24"/>
          <p:cNvSpPr/>
          <p:nvPr/>
        </p:nvSpPr>
        <p:spPr>
          <a:xfrm>
            <a:off x="9665208" y="2245766"/>
            <a:ext cx="397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619488" y="4828032"/>
            <a:ext cx="489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114788" y="3305251"/>
            <a:ext cx="214884" cy="1449629"/>
          </a:xfrm>
          <a:prstGeom prst="rect">
            <a:avLst/>
          </a:prstGeom>
          <a:solidFill>
            <a:srgbClr val="A9760C"/>
          </a:solidFill>
          <a:ln/>
        </p:spPr>
      </p:sp>
      <p:sp>
        <p:nvSpPr>
          <p:cNvPr id="29" name="Text 27"/>
          <p:cNvSpPr/>
          <p:nvPr/>
        </p:nvSpPr>
        <p:spPr>
          <a:xfrm>
            <a:off x="10023348" y="3076651"/>
            <a:ext cx="397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77628" y="4828032"/>
            <a:ext cx="489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472928" y="3720694"/>
            <a:ext cx="214884" cy="1034186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2" name="Text 30"/>
          <p:cNvSpPr/>
          <p:nvPr/>
        </p:nvSpPr>
        <p:spPr>
          <a:xfrm>
            <a:off x="10381488" y="3492094"/>
            <a:ext cx="397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335768" y="4828032"/>
            <a:ext cx="489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831068" y="4162654"/>
            <a:ext cx="214884" cy="592226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5" name="Text 33"/>
          <p:cNvSpPr/>
          <p:nvPr/>
        </p:nvSpPr>
        <p:spPr>
          <a:xfrm>
            <a:off x="10739628" y="3934054"/>
            <a:ext cx="397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693908" y="4828032"/>
            <a:ext cx="489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1189208" y="4436669"/>
            <a:ext cx="214884" cy="318211"/>
          </a:xfrm>
          <a:prstGeom prst="rect">
            <a:avLst/>
          </a:prstGeom>
          <a:solidFill>
            <a:srgbClr val="A9760C"/>
          </a:solidFill>
          <a:ln/>
        </p:spPr>
      </p:sp>
      <p:sp>
        <p:nvSpPr>
          <p:cNvPr id="38" name="Text 36"/>
          <p:cNvSpPr/>
          <p:nvPr/>
        </p:nvSpPr>
        <p:spPr>
          <a:xfrm>
            <a:off x="11097768" y="4208069"/>
            <a:ext cx="397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052048" y="4828032"/>
            <a:ext cx="489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326880" y="4754880"/>
            <a:ext cx="2148840" cy="0"/>
          </a:xfrm>
          <a:prstGeom prst="line">
            <a:avLst/>
          </a:prstGeom>
          <a:noFill/>
          <a:ln w="12700">
            <a:solidFill>
              <a:srgbClr val="EDEA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9720" y="54864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AlexNet's 2012 GPU-trained model cut the error rate nearly in half overnight.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Generative AI Era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2018–2026 — Language Models Go Mainstream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Large Language Models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(GPT-2/3), Google (BERT)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trained on massive datasets via cloud computing showed emergent language ability.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4149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4149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73177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73177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Launches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conversational LLMs to mainstream use, triggering a global surge in AI investment and adoption.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6450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645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⚔️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95478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395478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Generative AI Arms Race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Google, Anthropic, Nvidia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players raced to release multimodal models, powered largely by Nvidia's dominant AI hardware.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87518"/>
            <a:ext cx="566928" cy="566928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8751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77790"/>
            <a:ext cx="1371600" cy="1131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5177790"/>
            <a:ext cx="6126480" cy="1177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&amp; Agentic AI  </a:t>
            </a:r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Google DeepMind, Anthropic, Meta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94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expanded into reasoning, tool use, and autonomous agents across text, image, audio, and video.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0" y="1371600"/>
            <a:ext cx="2880360" cy="4937760"/>
          </a:xfrm>
          <a:prstGeom prst="roundRect">
            <a:avLst>
              <a:gd name="adj" fmla="val 3175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Over 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85757" y="4709025"/>
            <a:ext cx="288036" cy="45855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23" name="Text 21"/>
          <p:cNvSpPr/>
          <p:nvPr/>
        </p:nvSpPr>
        <p:spPr>
          <a:xfrm>
            <a:off x="9348597" y="4480425"/>
            <a:ext cx="5623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302877" y="4828032"/>
            <a:ext cx="653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'18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0000107" y="4375143"/>
            <a:ext cx="288036" cy="379737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26" name="Text 24"/>
          <p:cNvSpPr/>
          <p:nvPr/>
        </p:nvSpPr>
        <p:spPr>
          <a:xfrm>
            <a:off x="9862947" y="4146543"/>
            <a:ext cx="5623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817227" y="4828032"/>
            <a:ext cx="653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'19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514457" y="2612084"/>
            <a:ext cx="288036" cy="2142796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29" name="Text 27"/>
          <p:cNvSpPr/>
          <p:nvPr/>
        </p:nvSpPr>
        <p:spPr>
          <a:xfrm>
            <a:off x="10377297" y="2383484"/>
            <a:ext cx="5623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331577" y="4828032"/>
            <a:ext cx="653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1028807" y="2146708"/>
            <a:ext cx="288036" cy="2608172"/>
          </a:xfrm>
          <a:prstGeom prst="rect">
            <a:avLst/>
          </a:prstGeom>
          <a:solidFill>
            <a:srgbClr val="A9760C"/>
          </a:solidFill>
          <a:ln/>
        </p:spPr>
      </p:sp>
      <p:sp>
        <p:nvSpPr>
          <p:cNvPr id="32" name="Text 30"/>
          <p:cNvSpPr/>
          <p:nvPr/>
        </p:nvSpPr>
        <p:spPr>
          <a:xfrm>
            <a:off x="10891647" y="1918108"/>
            <a:ext cx="5623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845927" y="4828032"/>
            <a:ext cx="653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'22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372600" y="4754880"/>
            <a:ext cx="2057400" cy="0"/>
          </a:xfrm>
          <a:prstGeom prst="line">
            <a:avLst/>
          </a:prstGeom>
          <a:noFill/>
          <a:ln w="12700">
            <a:solidFill>
              <a:srgbClr val="EDEA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9720" y="54864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parameter counts (billions) — scale exploded once GPUs made large-scale training feasible.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Behind the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101600" dist="38100" dir="5400000">
              <a:srgbClr val="B8A45A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88820" y="1965960"/>
            <a:ext cx="731520" cy="731520"/>
          </a:xfrm>
          <a:prstGeom prst="ellipse">
            <a:avLst/>
          </a:prstGeom>
          <a:solidFill>
            <a:srgbClr val="FBE28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&amp; Bust, Repeated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“winters” show how inflated promises — not the underlying ideas — caused funding collapses.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101600" dist="38100" dir="5400000">
              <a:srgbClr val="B8A45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92140" y="1965960"/>
            <a:ext cx="731520" cy="731520"/>
          </a:xfrm>
          <a:prstGeom prst="ellipse">
            <a:avLst/>
          </a:prstGeom>
          <a:solidFill>
            <a:srgbClr val="FBE28A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9659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7720" y="29718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→ Neural Networks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Symbolic, rule-based systems gave way to connectionist neural networks as the dominant paradigm.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CFBF7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101600" dist="38100" dir="5400000">
              <a:srgbClr val="B8A45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95460" y="1965960"/>
            <a:ext cx="731520" cy="73152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9659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21040" y="29718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Unlocked Theory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37947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existed since 1986 — it took GPUs and cloud computing (AlexNet, 2012) to make it practical.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106984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DEAE0"/>
            </a:solidFill>
            <a:prstDash val="solid"/>
          </a:ln>
          <a:effectLst>
            <a:outerShdw sx="100000" sy="100000" kx="0" ky="0" algn="bl" rotWithShape="0" blurRad="101600" dist="38100" dir="5400000">
              <a:srgbClr val="B8A45A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i="1" dirty="0">
                <a:solidFill>
                  <a:srgbClr val="2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today's generative AI boom fundamentally different from past cycles — or are we due for another correction once the hype outpaces what the technology can deliver?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full interactive timeline: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Link to Visual Timeline Here]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Discussion: AI &amp; ML Timelines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2026-07-11T16:29:41Z</dcterms:created>
  <dcterms:modified xsi:type="dcterms:W3CDTF">2026-07-11T16:29:41Z</dcterms:modified>
</cp:coreProperties>
</file>